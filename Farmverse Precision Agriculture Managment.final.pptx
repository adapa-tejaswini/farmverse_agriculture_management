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Cambria Bold" panose="02040803050406030204" pitchFamily="18" charset="0"/>
      <p:regular r:id="rId17"/>
      <p:bold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Sorts Mill Goudy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3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tha Sunku" userId="2b4feed2abd9a14c" providerId="LiveId" clId="{6FB47855-34A4-4C45-87AA-D320AADC8193}"/>
    <pc:docChg chg="modSld">
      <pc:chgData name="Charitha Sunku" userId="2b4feed2abd9a14c" providerId="LiveId" clId="{6FB47855-34A4-4C45-87AA-D320AADC8193}" dt="2026-09-17T15:31:15.194" v="13" actId="20577"/>
      <pc:docMkLst>
        <pc:docMk/>
      </pc:docMkLst>
      <pc:sldChg chg="modSp mod">
        <pc:chgData name="Charitha Sunku" userId="2b4feed2abd9a14c" providerId="LiveId" clId="{6FB47855-34A4-4C45-87AA-D320AADC8193}" dt="2026-09-17T15:31:15.194" v="13" actId="20577"/>
        <pc:sldMkLst>
          <pc:docMk/>
          <pc:sldMk cId="0" sldId="256"/>
        </pc:sldMkLst>
        <pc:spChg chg="mod">
          <ac:chgData name="Charitha Sunku" userId="2b4feed2abd9a14c" providerId="LiveId" clId="{6FB47855-34A4-4C45-87AA-D320AADC8193}" dt="2026-09-17T15:31:15.194" v="13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26" y="283534"/>
            <a:ext cx="18288000" cy="315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Intelligent Farm Operations Platform with Smart </a:t>
            </a:r>
            <a:r>
              <a:rPr lang="en-US" sz="6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Agro</a:t>
            </a:r>
            <a:r>
              <a:rPr lang="en-US" sz="6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Precision System.</a:t>
            </a:r>
          </a:p>
        </p:txBody>
      </p:sp>
      <p:sp>
        <p:nvSpPr>
          <p:cNvPr id="3" name="Freeform 3"/>
          <p:cNvSpPr/>
          <p:nvPr/>
        </p:nvSpPr>
        <p:spPr>
          <a:xfrm>
            <a:off x="16630650" y="7972425"/>
            <a:ext cx="1466850" cy="1914525"/>
          </a:xfrm>
          <a:custGeom>
            <a:avLst/>
            <a:gdLst/>
            <a:ahLst/>
            <a:cxnLst/>
            <a:rect l="l" t="t" r="r" b="b"/>
            <a:pathLst>
              <a:path w="1466850" h="1914525">
                <a:moveTo>
                  <a:pt x="0" y="0"/>
                </a:moveTo>
                <a:lnTo>
                  <a:pt x="1466850" y="0"/>
                </a:lnTo>
                <a:lnTo>
                  <a:pt x="1466850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47675" y="8382000"/>
            <a:ext cx="1905000" cy="1390650"/>
          </a:xfrm>
          <a:custGeom>
            <a:avLst/>
            <a:gdLst/>
            <a:ahLst/>
            <a:cxnLst/>
            <a:rect l="l" t="t" r="r" b="b"/>
            <a:pathLst>
              <a:path w="1905000" h="1390650">
                <a:moveTo>
                  <a:pt x="0" y="0"/>
                </a:moveTo>
                <a:lnTo>
                  <a:pt x="1905000" y="0"/>
                </a:lnTo>
                <a:lnTo>
                  <a:pt x="19050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1734800" y="4819967"/>
            <a:ext cx="5257800" cy="4891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A members </a:t>
            </a:r>
            <a:b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</a:br>
            <a:r>
              <a:rPr lang="en-IN" sz="3600" dirty="0"/>
              <a:t>Aasima </a:t>
            </a:r>
            <a:br>
              <a:rPr lang="en-IN" sz="3600" dirty="0"/>
            </a:br>
            <a:r>
              <a:rPr lang="en-IN" sz="3600" dirty="0"/>
              <a:t>Tejaswini</a:t>
            </a:r>
            <a:br>
              <a:rPr lang="en-IN" sz="3600" dirty="0"/>
            </a:br>
            <a:r>
              <a:rPr lang="en-IN" sz="3600" dirty="0"/>
              <a:t> Anshul Chaurasiya </a:t>
            </a:r>
            <a:br>
              <a:rPr lang="en-IN" sz="3600" dirty="0"/>
            </a:br>
            <a:r>
              <a:rPr lang="en-IN" sz="3600" dirty="0"/>
              <a:t>Ashutosh Mishra</a:t>
            </a:r>
            <a:br>
              <a:rPr lang="en-IN" sz="3600" dirty="0"/>
            </a:br>
            <a:r>
              <a:rPr lang="en-IN" sz="3600" dirty="0"/>
              <a:t> Charitha S</a:t>
            </a: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13A7D-8122-7D79-6785-20B74A66EF2A}"/>
              </a:ext>
            </a:extLst>
          </p:cNvPr>
          <p:cNvSpPr txBox="1"/>
          <p:nvPr/>
        </p:nvSpPr>
        <p:spPr>
          <a:xfrm>
            <a:off x="12496800" y="3848100"/>
            <a:ext cx="441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           </a:t>
            </a:r>
          </a:p>
          <a:p>
            <a:r>
              <a:rPr lang="en-US" sz="3600" dirty="0"/>
              <a:t>              Mentor </a:t>
            </a:r>
            <a:br>
              <a:rPr lang="en-US" sz="3600" dirty="0"/>
            </a:br>
            <a:r>
              <a:rPr lang="en-US" sz="3600" dirty="0"/>
              <a:t>               Ragul S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49E60-C3BC-686F-5880-EC97A6279C4D}"/>
              </a:ext>
            </a:extLst>
          </p:cNvPr>
          <p:cNvSpPr txBox="1"/>
          <p:nvPr/>
        </p:nvSpPr>
        <p:spPr>
          <a:xfrm>
            <a:off x="533400" y="4991100"/>
            <a:ext cx="1252939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Farming : Crop Recommendations, Disease Detection,</a:t>
            </a:r>
            <a:br>
              <a:rPr lang="en-US" sz="4400" dirty="0"/>
            </a:br>
            <a:r>
              <a:rPr lang="en-US" sz="4400" dirty="0"/>
              <a:t>Smart Irrigation, Satellite &amp; Drone Monitoring</a:t>
            </a:r>
            <a:br>
              <a:rPr lang="en-US" sz="4400" dirty="0"/>
            </a:br>
            <a:r>
              <a:rPr lang="en-US" sz="4400" dirty="0"/>
              <a:t>and Farmer Analytics.</a:t>
            </a:r>
            <a:endParaRPr lang="en-IN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⚠️  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Challenges Faced by Farmers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4073" y="2324014"/>
            <a:ext cx="5235216" cy="3176216"/>
            <a:chOff x="0" y="0"/>
            <a:chExt cx="6980288" cy="4234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FFEBEE"/>
            </a:solidFill>
            <a:ln w="19065" cap="sq">
              <a:solidFill>
                <a:srgbClr val="E5393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89577" y="2518486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1️⃣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5911" y="2537536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Real-Time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6842" y="3292507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observation.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Delayed detection of crop stress.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42024" y="2324014"/>
            <a:ext cx="5235216" cy="3176216"/>
            <a:chOff x="0" y="0"/>
            <a:chExt cx="6980288" cy="42349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FFF3E0"/>
            </a:solidFill>
            <a:ln w="19065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17538" y="2518486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2️⃣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3871" y="2537536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Resource Wastage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54803" y="3292507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Over-irrigation wastes 40-60% water.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Excess fertilizer degrades soil.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69985" y="2324014"/>
            <a:ext cx="5235216" cy="3176216"/>
            <a:chOff x="0" y="0"/>
            <a:chExt cx="6980288" cy="42349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445489" y="2518486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3️⃣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31822" y="2537536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Unpredictable Weather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82763" y="3292507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No early warning systems.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Crop failure from sudden changes.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14073" y="6030230"/>
            <a:ext cx="5235216" cy="3176216"/>
            <a:chOff x="0" y="0"/>
            <a:chExt cx="6980288" cy="42349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F3E5F5"/>
            </a:solidFill>
            <a:ln w="19065" cap="sq">
              <a:solidFill>
                <a:srgbClr val="8E24A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9577" y="6224702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4️⃣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5911" y="6243752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 Pest Detection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6842" y="6998722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Identified too late.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₹90,000 Cr+ annual crop loss.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42024" y="6030230"/>
            <a:ext cx="5235216" cy="3176216"/>
            <a:chOff x="0" y="0"/>
            <a:chExt cx="6980288" cy="423495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E8F5E9"/>
            </a:solidFill>
            <a:ln w="19065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817538" y="6224702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5️⃣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03871" y="6243752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Expert Access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54803" y="6998722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Small farmers lack guidance.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Language barriers.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069985" y="6030230"/>
            <a:ext cx="5235216" cy="3176216"/>
            <a:chOff x="0" y="0"/>
            <a:chExt cx="6980288" cy="42349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80301" cy="4234942"/>
            </a:xfrm>
            <a:custGeom>
              <a:avLst/>
              <a:gdLst/>
              <a:ahLst/>
              <a:cxnLst/>
              <a:rect l="l" t="t" r="r" b="b"/>
              <a:pathLst>
                <a:path w="6980301" h="4234942">
                  <a:moveTo>
                    <a:pt x="0" y="705866"/>
                  </a:moveTo>
                  <a:cubicBezTo>
                    <a:pt x="0" y="315976"/>
                    <a:pt x="315976" y="0"/>
                    <a:pt x="705866" y="0"/>
                  </a:cubicBezTo>
                  <a:lnTo>
                    <a:pt x="6274435" y="0"/>
                  </a:lnTo>
                  <a:cubicBezTo>
                    <a:pt x="6664198" y="0"/>
                    <a:pt x="6980301" y="315976"/>
                    <a:pt x="6980301" y="705866"/>
                  </a:cubicBezTo>
                  <a:lnTo>
                    <a:pt x="6980301" y="3529076"/>
                  </a:lnTo>
                  <a:cubicBezTo>
                    <a:pt x="6980301" y="3918839"/>
                    <a:pt x="6664325" y="4234942"/>
                    <a:pt x="6274435" y="4234942"/>
                  </a:cubicBezTo>
                  <a:lnTo>
                    <a:pt x="705866" y="4234942"/>
                  </a:lnTo>
                  <a:cubicBezTo>
                    <a:pt x="315976" y="4234942"/>
                    <a:pt x="0" y="3918966"/>
                    <a:pt x="0" y="3529076"/>
                  </a:cubicBezTo>
                  <a:close/>
                </a:path>
              </a:pathLst>
            </a:custGeom>
            <a:solidFill>
              <a:srgbClr val="E0F2F1"/>
            </a:solidFill>
            <a:ln w="19065" cap="sq">
              <a:solidFill>
                <a:srgbClr val="0083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445489" y="6224702"/>
            <a:ext cx="503453" cy="52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6️⃣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31822" y="6243752"/>
            <a:ext cx="3660600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21212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Fragmented Data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82763" y="6998722"/>
            <a:ext cx="4209669" cy="1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No centralized platform.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Decisions based on intuition.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5/21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896" y="566102"/>
            <a:ext cx="7718822" cy="60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3559" spc="5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OBJECTIVES-FARMEVERSE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72887"/>
            <a:ext cx="172593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FarmVerse is a smart farming platform designed to support farmers in managing their farms more effectively.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101002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helps farmers make informed decisions to improve crop growth and productivity.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957935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promotes the efficient use of resources such as water, fertilizers, and land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785975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assists in monitoring farm conditions and responding to changes in weather.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500033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helps in detecting the disease early.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13773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Improves overall farm productivity while reducing operational cost.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755553"/>
            <a:ext cx="16230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Encourage sustainable and environmentally friendly farming practices.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041813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Support timely decisions for better farming outcomes.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469293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Increase farmers' profitability by optimizing the use of available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548640"/>
            <a:ext cx="754380" cy="754380"/>
            <a:chOff x="0" y="0"/>
            <a:chExt cx="1005840" cy="100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0966" y="733806"/>
            <a:ext cx="384048" cy="384048"/>
            <a:chOff x="0" y="0"/>
            <a:chExt cx="512064" cy="512064"/>
          </a:xfrm>
        </p:grpSpPr>
        <p:sp>
          <p:nvSpPr>
            <p:cNvPr id="5" name="Freeform 5" descr="/home/claude/farmverse/icon2_leaf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5920" y="411480"/>
            <a:ext cx="8915400" cy="685800"/>
            <a:chOff x="0" y="0"/>
            <a:chExt cx="118872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87200" cy="914400"/>
            </a:xfrm>
            <a:custGeom>
              <a:avLst/>
              <a:gdLst/>
              <a:ahLst/>
              <a:cxnLst/>
              <a:rect l="l" t="t" r="r" b="b"/>
              <a:pathLst>
                <a:path w="11887200" h="914400">
                  <a:moveTo>
                    <a:pt x="0" y="0"/>
                  </a:moveTo>
                  <a:lnTo>
                    <a:pt x="11887200" y="0"/>
                  </a:lnTo>
                  <a:lnTo>
                    <a:pt x="1188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887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2C5F2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FarmVerse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5920" y="1069848"/>
            <a:ext cx="11658600" cy="480060"/>
            <a:chOff x="0" y="0"/>
            <a:chExt cx="15544800" cy="640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44800" cy="640080"/>
            </a:xfrm>
            <a:custGeom>
              <a:avLst/>
              <a:gdLst/>
              <a:ahLst/>
              <a:cxnLst/>
              <a:rect l="l" t="t" r="r" b="b"/>
              <a:pathLst>
                <a:path w="15544800" h="64008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3208" b="-4232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55448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716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 Agriculture Management Platform  —  Modules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194560"/>
            <a:ext cx="3154680" cy="3566160"/>
            <a:chOff x="0" y="0"/>
            <a:chExt cx="4206240" cy="4754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5256" y="2414016"/>
            <a:ext cx="576072" cy="576072"/>
            <a:chOff x="0" y="0"/>
            <a:chExt cx="768096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2537460"/>
            <a:ext cx="329184" cy="329184"/>
            <a:chOff x="0" y="0"/>
            <a:chExt cx="438912" cy="438912"/>
          </a:xfrm>
        </p:grpSpPr>
        <p:sp>
          <p:nvSpPr>
            <p:cNvPr id="17" name="Freeform 17" descr="/home/claude/farmverse/icon2_register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05256" y="305219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Farmer Register Module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5256" y="3912108"/>
            <a:ext cx="2715768" cy="24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faremer create an account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114800" y="2194560"/>
            <a:ext cx="3154680" cy="3566160"/>
            <a:chOff x="0" y="0"/>
            <a:chExt cx="4206240" cy="4754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34256" y="2414016"/>
            <a:ext cx="576072" cy="576072"/>
            <a:chOff x="0" y="0"/>
            <a:chExt cx="768096" cy="7680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7700" y="2537460"/>
            <a:ext cx="329184" cy="329184"/>
            <a:chOff x="0" y="0"/>
            <a:chExt cx="438912" cy="438912"/>
          </a:xfrm>
        </p:grpSpPr>
        <p:sp>
          <p:nvSpPr>
            <p:cNvPr id="25" name="Freeform 25" descr="/home/claude/farmverse/icon2_farmmgm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334256" y="305219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Farm Management Module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34256" y="391210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Add &amp; manage fields, crops and daily farm activities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543800" y="2194560"/>
            <a:ext cx="3154680" cy="3566160"/>
            <a:chOff x="0" y="0"/>
            <a:chExt cx="4206240" cy="47548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63256" y="2414016"/>
            <a:ext cx="576072" cy="576072"/>
            <a:chOff x="0" y="0"/>
            <a:chExt cx="768096" cy="7680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886700" y="2537460"/>
            <a:ext cx="329184" cy="329184"/>
            <a:chOff x="0" y="0"/>
            <a:chExt cx="438912" cy="438912"/>
          </a:xfrm>
        </p:grpSpPr>
        <p:sp>
          <p:nvSpPr>
            <p:cNvPr id="33" name="Freeform 33" descr="/home/claude/farmverse/icon2_sensor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763256" y="305219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 Monitoring Module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63256" y="3912108"/>
            <a:ext cx="2715768" cy="67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Live soil moisture, temperature , humidity ,soil pH, High Intensity, Water level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972800" y="2194560"/>
            <a:ext cx="3154680" cy="3566160"/>
            <a:chOff x="0" y="0"/>
            <a:chExt cx="4206240" cy="47548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192256" y="2414016"/>
            <a:ext cx="576072" cy="576072"/>
            <a:chOff x="0" y="0"/>
            <a:chExt cx="768096" cy="76809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315700" y="2537460"/>
            <a:ext cx="329184" cy="329184"/>
            <a:chOff x="0" y="0"/>
            <a:chExt cx="438912" cy="438912"/>
          </a:xfrm>
        </p:grpSpPr>
        <p:sp>
          <p:nvSpPr>
            <p:cNvPr id="41" name="Freeform 41" descr="/home/claude/farmverse/icon2_weather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92256" y="305219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Weather Monitoring Module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92256" y="391210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forecasts, rainfall &amp; climate risk updates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4401800" y="2194560"/>
            <a:ext cx="3154680" cy="3566160"/>
            <a:chOff x="0" y="0"/>
            <a:chExt cx="4206240" cy="4754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621256" y="2414016"/>
            <a:ext cx="576072" cy="576072"/>
            <a:chOff x="0" y="0"/>
            <a:chExt cx="768096" cy="76809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744700" y="2537460"/>
            <a:ext cx="329184" cy="329184"/>
            <a:chOff x="0" y="0"/>
            <a:chExt cx="438912" cy="438912"/>
          </a:xfrm>
        </p:grpSpPr>
        <p:sp>
          <p:nvSpPr>
            <p:cNvPr id="49" name="Freeform 49" descr="/home/claude/farmverse/icon2_irrigation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4621256" y="305219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Irrigation Module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621256" y="3912108"/>
            <a:ext cx="2715768" cy="4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 scheduling to save water ,Prevents over-irrigation,reduce electricity cost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85800" y="6103620"/>
            <a:ext cx="3154680" cy="3566160"/>
            <a:chOff x="0" y="0"/>
            <a:chExt cx="4206240" cy="47548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5256" y="6323076"/>
            <a:ext cx="576072" cy="576072"/>
            <a:chOff x="0" y="0"/>
            <a:chExt cx="768096" cy="7680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8700" y="6446520"/>
            <a:ext cx="329184" cy="329184"/>
            <a:chOff x="0" y="0"/>
            <a:chExt cx="438912" cy="438912"/>
          </a:xfrm>
        </p:grpSpPr>
        <p:sp>
          <p:nvSpPr>
            <p:cNvPr id="57" name="Freeform 57" descr="/home/claude/farmverse/icon2_crop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05256" y="696125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Crop Recommendation Module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05256" y="7821168"/>
            <a:ext cx="2715768" cy="4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based on soli pH,temparature,humidity,rainfall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4114800" y="6103620"/>
            <a:ext cx="3154680" cy="3566160"/>
            <a:chOff x="0" y="0"/>
            <a:chExt cx="4206240" cy="47548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334256" y="6323076"/>
            <a:ext cx="576072" cy="576072"/>
            <a:chOff x="0" y="0"/>
            <a:chExt cx="768096" cy="7680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457700" y="6446520"/>
            <a:ext cx="329184" cy="329184"/>
            <a:chOff x="0" y="0"/>
            <a:chExt cx="438912" cy="438912"/>
          </a:xfrm>
        </p:grpSpPr>
        <p:sp>
          <p:nvSpPr>
            <p:cNvPr id="65" name="Freeform 65" descr="/home/claude/farmverse/icon2_diseas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4334256" y="696125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Disease Detection Module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34256" y="782116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Image-based detection of crop diseases at early stage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543800" y="6103620"/>
            <a:ext cx="3154680" cy="3566160"/>
            <a:chOff x="0" y="0"/>
            <a:chExt cx="4206240" cy="47548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763256" y="6323076"/>
            <a:ext cx="576072" cy="576072"/>
            <a:chOff x="0" y="0"/>
            <a:chExt cx="768096" cy="76809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86700" y="6446520"/>
            <a:ext cx="329184" cy="329184"/>
            <a:chOff x="0" y="0"/>
            <a:chExt cx="438912" cy="438912"/>
          </a:xfrm>
        </p:grpSpPr>
        <p:sp>
          <p:nvSpPr>
            <p:cNvPr id="73" name="Freeform 73" descr="/home/claude/farmverse/icon2_fertilizer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7763256" y="696125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Fertilizer Recommendation Module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763256" y="782116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Suggests right fertilizer type &amp; dosage for each crop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0972800" y="6103620"/>
            <a:ext cx="3154680" cy="3566160"/>
            <a:chOff x="0" y="0"/>
            <a:chExt cx="4206240" cy="47548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192256" y="6323076"/>
            <a:ext cx="576072" cy="576072"/>
            <a:chOff x="0" y="0"/>
            <a:chExt cx="768096" cy="76809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315700" y="6446520"/>
            <a:ext cx="329184" cy="329184"/>
            <a:chOff x="0" y="0"/>
            <a:chExt cx="438912" cy="438912"/>
          </a:xfrm>
        </p:grpSpPr>
        <p:sp>
          <p:nvSpPr>
            <p:cNvPr id="81" name="Freeform 81" descr="/home/claude/farmverse/icon2_aler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1192256" y="696125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 Module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192256" y="782116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SMS/app alerts for risks, weather &amp; sensor events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14401800" y="6103620"/>
            <a:ext cx="3154680" cy="3566160"/>
            <a:chOff x="0" y="0"/>
            <a:chExt cx="4206240" cy="47548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206240" cy="4754880"/>
            </a:xfrm>
            <a:custGeom>
              <a:avLst/>
              <a:gdLst/>
              <a:ahLst/>
              <a:cxnLst/>
              <a:rect l="l" t="t" r="r" b="b"/>
              <a:pathLst>
                <a:path w="4206240" h="4754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41648" y="0"/>
                  </a:lnTo>
                  <a:cubicBezTo>
                    <a:pt x="4132580" y="0"/>
                    <a:pt x="4206240" y="73660"/>
                    <a:pt x="4206240" y="164592"/>
                  </a:cubicBezTo>
                  <a:lnTo>
                    <a:pt x="4206240" y="4590288"/>
                  </a:lnTo>
                  <a:cubicBezTo>
                    <a:pt x="4206240" y="4681220"/>
                    <a:pt x="4132580" y="4754880"/>
                    <a:pt x="4041648" y="4754880"/>
                  </a:cubicBezTo>
                  <a:lnTo>
                    <a:pt x="164592" y="4754880"/>
                  </a:lnTo>
                  <a:cubicBezTo>
                    <a:pt x="73660" y="4754880"/>
                    <a:pt x="0" y="4681220"/>
                    <a:pt x="0" y="4590288"/>
                  </a:cubicBezTo>
                  <a:close/>
                </a:path>
              </a:pathLst>
            </a:custGeom>
            <a:solidFill>
              <a:srgbClr val="F3F7EE"/>
            </a:solid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4621256" y="6323076"/>
            <a:ext cx="576072" cy="576072"/>
            <a:chOff x="0" y="0"/>
            <a:chExt cx="768096" cy="76809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C5F2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4744700" y="6446520"/>
            <a:ext cx="329184" cy="329184"/>
            <a:chOff x="0" y="0"/>
            <a:chExt cx="438912" cy="438912"/>
          </a:xfrm>
        </p:grpSpPr>
        <p:sp>
          <p:nvSpPr>
            <p:cNvPr id="89" name="Freeform 89" descr="/home/claude/farmverse/icon2_dashboard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4621256" y="6961251"/>
            <a:ext cx="2715768" cy="89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725" b="1">
                <a:solidFill>
                  <a:srgbClr val="23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Module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621256" y="7821168"/>
            <a:ext cx="2715768" cy="168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350">
                <a:solidFill>
                  <a:srgbClr val="667167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view of farm health, analytics &amp;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🌟  Unique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How FarmVerse Works Differently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4073" y="2324014"/>
            <a:ext cx="5372491" cy="7156961"/>
            <a:chOff x="0" y="0"/>
            <a:chExt cx="7163321" cy="95426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3308" cy="9542653"/>
            </a:xfrm>
            <a:custGeom>
              <a:avLst/>
              <a:gdLst/>
              <a:ahLst/>
              <a:cxnLst/>
              <a:rect l="l" t="t" r="r" b="b"/>
              <a:pathLst>
                <a:path w="7163308" h="9542653">
                  <a:moveTo>
                    <a:pt x="0" y="1193927"/>
                  </a:moveTo>
                  <a:cubicBezTo>
                    <a:pt x="0" y="534543"/>
                    <a:pt x="534543" y="0"/>
                    <a:pt x="1193927" y="0"/>
                  </a:cubicBezTo>
                  <a:lnTo>
                    <a:pt x="5969381" y="0"/>
                  </a:lnTo>
                  <a:cubicBezTo>
                    <a:pt x="6628765" y="0"/>
                    <a:pt x="7163308" y="534543"/>
                    <a:pt x="7163308" y="1193927"/>
                  </a:cubicBezTo>
                  <a:lnTo>
                    <a:pt x="7163308" y="8348726"/>
                  </a:lnTo>
                  <a:cubicBezTo>
                    <a:pt x="7163308" y="9008110"/>
                    <a:pt x="6628765" y="9542653"/>
                    <a:pt x="5969381" y="9542653"/>
                  </a:cubicBezTo>
                  <a:lnTo>
                    <a:pt x="1193927" y="9542653"/>
                  </a:lnTo>
                  <a:cubicBezTo>
                    <a:pt x="534543" y="9542653"/>
                    <a:pt x="0" y="9008110"/>
                    <a:pt x="0" y="8348726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99518" y="2510923"/>
            <a:ext cx="1601591" cy="101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🗺️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9577" y="3694786"/>
            <a:ext cx="4621473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Dashboard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6842" y="4390644"/>
            <a:ext cx="4346943" cy="297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Map-based field viz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sensor overlay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Zone your farm into parcels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35402" y="7686961"/>
            <a:ext cx="4529823" cy="617706"/>
            <a:chOff x="0" y="0"/>
            <a:chExt cx="6039764" cy="8236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39739" cy="823595"/>
            </a:xfrm>
            <a:custGeom>
              <a:avLst/>
              <a:gdLst/>
              <a:ahLst/>
              <a:cxnLst/>
              <a:rect l="l" t="t" r="r" b="b"/>
              <a:pathLst>
                <a:path w="6039739" h="823595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5902452" y="0"/>
                  </a:lnTo>
                  <a:cubicBezTo>
                    <a:pt x="5978271" y="0"/>
                    <a:pt x="6039739" y="61468"/>
                    <a:pt x="6039739" y="137287"/>
                  </a:cubicBezTo>
                  <a:lnTo>
                    <a:pt x="6039739" y="686308"/>
                  </a:lnTo>
                  <a:cubicBezTo>
                    <a:pt x="6039739" y="762127"/>
                    <a:pt x="5978271" y="823595"/>
                    <a:pt x="5902452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1565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95479" y="7722041"/>
            <a:ext cx="4209669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✨ Geospatial + temporal fusion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42024" y="2324014"/>
            <a:ext cx="5372491" cy="7156961"/>
            <a:chOff x="0" y="0"/>
            <a:chExt cx="7163321" cy="95426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63308" cy="9542653"/>
            </a:xfrm>
            <a:custGeom>
              <a:avLst/>
              <a:gdLst/>
              <a:ahLst/>
              <a:cxnLst/>
              <a:rect l="l" t="t" r="r" b="b"/>
              <a:pathLst>
                <a:path w="7163308" h="9542653">
                  <a:moveTo>
                    <a:pt x="0" y="1193927"/>
                  </a:moveTo>
                  <a:cubicBezTo>
                    <a:pt x="0" y="534543"/>
                    <a:pt x="534543" y="0"/>
                    <a:pt x="1193927" y="0"/>
                  </a:cubicBezTo>
                  <a:lnTo>
                    <a:pt x="5969381" y="0"/>
                  </a:lnTo>
                  <a:cubicBezTo>
                    <a:pt x="6628765" y="0"/>
                    <a:pt x="7163308" y="534543"/>
                    <a:pt x="7163308" y="1193927"/>
                  </a:cubicBezTo>
                  <a:lnTo>
                    <a:pt x="7163308" y="8348726"/>
                  </a:lnTo>
                  <a:cubicBezTo>
                    <a:pt x="7163308" y="9008110"/>
                    <a:pt x="6628765" y="9542653"/>
                    <a:pt x="5969381" y="9542653"/>
                  </a:cubicBezTo>
                  <a:lnTo>
                    <a:pt x="1193927" y="9542653"/>
                  </a:lnTo>
                  <a:cubicBezTo>
                    <a:pt x="534543" y="9542653"/>
                    <a:pt x="0" y="9008110"/>
                    <a:pt x="0" y="8348726"/>
                  </a:cubicBezTo>
                  <a:close/>
                </a:path>
              </a:pathLst>
            </a:custGeom>
            <a:solidFill>
              <a:srgbClr val="E8F5E9"/>
            </a:solidFill>
            <a:ln w="19065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327469" y="2510923"/>
            <a:ext cx="1601591" cy="101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17538" y="3694786"/>
            <a:ext cx="4621473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Crop Advisory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4803" y="4390644"/>
            <a:ext cx="4346943" cy="297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leaf → instant detection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50K+ disease images trained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Works with smartphone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863363" y="7686961"/>
            <a:ext cx="4529823" cy="617706"/>
            <a:chOff x="0" y="0"/>
            <a:chExt cx="6039764" cy="8236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39739" cy="823595"/>
            </a:xfrm>
            <a:custGeom>
              <a:avLst/>
              <a:gdLst/>
              <a:ahLst/>
              <a:cxnLst/>
              <a:rect l="l" t="t" r="r" b="b"/>
              <a:pathLst>
                <a:path w="6039739" h="823595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5902452" y="0"/>
                  </a:lnTo>
                  <a:cubicBezTo>
                    <a:pt x="5978271" y="0"/>
                    <a:pt x="6039739" y="61468"/>
                    <a:pt x="6039739" y="137287"/>
                  </a:cubicBezTo>
                  <a:lnTo>
                    <a:pt x="6039739" y="686308"/>
                  </a:lnTo>
                  <a:cubicBezTo>
                    <a:pt x="6039739" y="762127"/>
                    <a:pt x="5978271" y="823595"/>
                    <a:pt x="5902452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023430" y="7722041"/>
            <a:ext cx="4209669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✨ Camera-based, no hardware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69985" y="2324014"/>
            <a:ext cx="5372491" cy="7156961"/>
            <a:chOff x="0" y="0"/>
            <a:chExt cx="7163321" cy="95426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63308" cy="9542653"/>
            </a:xfrm>
            <a:custGeom>
              <a:avLst/>
              <a:gdLst/>
              <a:ahLst/>
              <a:cxnLst/>
              <a:rect l="l" t="t" r="r" b="b"/>
              <a:pathLst>
                <a:path w="7163308" h="9542653">
                  <a:moveTo>
                    <a:pt x="0" y="1193927"/>
                  </a:moveTo>
                  <a:cubicBezTo>
                    <a:pt x="0" y="534543"/>
                    <a:pt x="534543" y="0"/>
                    <a:pt x="1193927" y="0"/>
                  </a:cubicBezTo>
                  <a:lnTo>
                    <a:pt x="5969381" y="0"/>
                  </a:lnTo>
                  <a:cubicBezTo>
                    <a:pt x="6628765" y="0"/>
                    <a:pt x="7163308" y="534543"/>
                    <a:pt x="7163308" y="1193927"/>
                  </a:cubicBezTo>
                  <a:lnTo>
                    <a:pt x="7163308" y="8348726"/>
                  </a:lnTo>
                  <a:cubicBezTo>
                    <a:pt x="7163308" y="9008110"/>
                    <a:pt x="6628765" y="9542653"/>
                    <a:pt x="5969381" y="9542653"/>
                  </a:cubicBezTo>
                  <a:lnTo>
                    <a:pt x="1193927" y="9542653"/>
                  </a:lnTo>
                  <a:cubicBezTo>
                    <a:pt x="534543" y="9542653"/>
                    <a:pt x="0" y="9008110"/>
                    <a:pt x="0" y="8348726"/>
                  </a:cubicBezTo>
                  <a:close/>
                </a:path>
              </a:pathLst>
            </a:custGeom>
            <a:solidFill>
              <a:srgbClr val="E0F7FA"/>
            </a:solidFill>
            <a:ln w="19065" cap="sq">
              <a:solidFill>
                <a:srgbClr val="0083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955430" y="2510923"/>
            <a:ext cx="1601591" cy="101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45489" y="3694786"/>
            <a:ext cx="4621473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0083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Irrigation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82763" y="4390644"/>
            <a:ext cx="4346943" cy="297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Soil moisture + weather API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AI calculates exact water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scheduling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491323" y="7686961"/>
            <a:ext cx="4529823" cy="617706"/>
            <a:chOff x="0" y="0"/>
            <a:chExt cx="6039764" cy="8236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39739" cy="823595"/>
            </a:xfrm>
            <a:custGeom>
              <a:avLst/>
              <a:gdLst/>
              <a:ahLst/>
              <a:cxnLst/>
              <a:rect l="l" t="t" r="r" b="b"/>
              <a:pathLst>
                <a:path w="6039739" h="823595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5902452" y="0"/>
                  </a:lnTo>
                  <a:cubicBezTo>
                    <a:pt x="5978271" y="0"/>
                    <a:pt x="6039739" y="61468"/>
                    <a:pt x="6039739" y="137287"/>
                  </a:cubicBezTo>
                  <a:lnTo>
                    <a:pt x="6039739" y="686308"/>
                  </a:lnTo>
                  <a:cubicBezTo>
                    <a:pt x="6039739" y="762127"/>
                    <a:pt x="5978271" y="823595"/>
                    <a:pt x="5902452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00838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651391" y="7722041"/>
            <a:ext cx="4209669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✨ Saves 30-40% water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8/21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 dirty="0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🌟  More Unique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dirty="0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Setting </a:t>
            </a:r>
            <a:r>
              <a:rPr lang="en-US" sz="2401" dirty="0" err="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FarmVerse</a:t>
            </a:r>
            <a:r>
              <a:rPr lang="en-US" sz="2401" dirty="0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 Apart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4073" y="2324014"/>
            <a:ext cx="5372491" cy="3862549"/>
            <a:chOff x="0" y="0"/>
            <a:chExt cx="7163321" cy="51500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3308" cy="5150104"/>
            </a:xfrm>
            <a:custGeom>
              <a:avLst/>
              <a:gdLst/>
              <a:ahLst/>
              <a:cxnLst/>
              <a:rect l="l" t="t" r="r" b="b"/>
              <a:pathLst>
                <a:path w="7163308" h="5150104">
                  <a:moveTo>
                    <a:pt x="0" y="858393"/>
                  </a:moveTo>
                  <a:cubicBezTo>
                    <a:pt x="0" y="384302"/>
                    <a:pt x="384302" y="0"/>
                    <a:pt x="858393" y="0"/>
                  </a:cubicBezTo>
                  <a:lnTo>
                    <a:pt x="6304915" y="0"/>
                  </a:lnTo>
                  <a:cubicBezTo>
                    <a:pt x="6779006" y="0"/>
                    <a:pt x="7163308" y="384302"/>
                    <a:pt x="7163308" y="858393"/>
                  </a:cubicBezTo>
                  <a:lnTo>
                    <a:pt x="7163308" y="4291711"/>
                  </a:lnTo>
                  <a:cubicBezTo>
                    <a:pt x="7163308" y="4765802"/>
                    <a:pt x="6779006" y="5150104"/>
                    <a:pt x="6304915" y="5150104"/>
                  </a:cubicBezTo>
                  <a:lnTo>
                    <a:pt x="858393" y="5150104"/>
                  </a:lnTo>
                  <a:cubicBezTo>
                    <a:pt x="384302" y="5150104"/>
                    <a:pt x="0" y="4765802"/>
                    <a:pt x="0" y="4291711"/>
                  </a:cubicBezTo>
                  <a:close/>
                </a:path>
              </a:pathLst>
            </a:custGeom>
            <a:solidFill>
              <a:srgbClr val="FFF3E0"/>
            </a:solidFill>
            <a:ln w="19065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99518" y="2461336"/>
            <a:ext cx="1601591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🌤️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9577" y="3498409"/>
            <a:ext cx="4621473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E6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Weather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6842" y="4116114"/>
            <a:ext cx="4346943" cy="174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Micro-level predictions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Field-specific alerts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Frost/heatwave/rain warnings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42024" y="2324014"/>
            <a:ext cx="5372491" cy="3862549"/>
            <a:chOff x="0" y="0"/>
            <a:chExt cx="7163321" cy="51500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5150104"/>
            </a:xfrm>
            <a:custGeom>
              <a:avLst/>
              <a:gdLst/>
              <a:ahLst/>
              <a:cxnLst/>
              <a:rect l="l" t="t" r="r" b="b"/>
              <a:pathLst>
                <a:path w="7163308" h="5150104">
                  <a:moveTo>
                    <a:pt x="0" y="858393"/>
                  </a:moveTo>
                  <a:cubicBezTo>
                    <a:pt x="0" y="384302"/>
                    <a:pt x="384302" y="0"/>
                    <a:pt x="858393" y="0"/>
                  </a:cubicBezTo>
                  <a:lnTo>
                    <a:pt x="6304915" y="0"/>
                  </a:lnTo>
                  <a:cubicBezTo>
                    <a:pt x="6779006" y="0"/>
                    <a:pt x="7163308" y="384302"/>
                    <a:pt x="7163308" y="858393"/>
                  </a:cubicBezTo>
                  <a:lnTo>
                    <a:pt x="7163308" y="4291711"/>
                  </a:lnTo>
                  <a:cubicBezTo>
                    <a:pt x="7163308" y="4765802"/>
                    <a:pt x="6779006" y="5150104"/>
                    <a:pt x="6304915" y="5150104"/>
                  </a:cubicBezTo>
                  <a:lnTo>
                    <a:pt x="858393" y="5150104"/>
                  </a:lnTo>
                  <a:cubicBezTo>
                    <a:pt x="384302" y="5150104"/>
                    <a:pt x="0" y="4765802"/>
                    <a:pt x="0" y="4291711"/>
                  </a:cubicBezTo>
                  <a:close/>
                </a:path>
              </a:pathLst>
            </a:custGeom>
            <a:solidFill>
              <a:srgbClr val="FFEBEE"/>
            </a:solidFill>
            <a:ln w="19065" cap="sq">
              <a:solidFill>
                <a:srgbClr val="C6282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27469" y="2461336"/>
            <a:ext cx="1601591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7538" y="3498409"/>
            <a:ext cx="4621473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Pest Prediction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54803" y="4116114"/>
            <a:ext cx="4346943" cy="174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7-14 day advance alerts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Weather + historical data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Preventive approach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69985" y="2324014"/>
            <a:ext cx="5372491" cy="3862549"/>
            <a:chOff x="0" y="0"/>
            <a:chExt cx="7163321" cy="51500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3308" cy="5150104"/>
            </a:xfrm>
            <a:custGeom>
              <a:avLst/>
              <a:gdLst/>
              <a:ahLst/>
              <a:cxnLst/>
              <a:rect l="l" t="t" r="r" b="b"/>
              <a:pathLst>
                <a:path w="7163308" h="5150104">
                  <a:moveTo>
                    <a:pt x="0" y="858393"/>
                  </a:moveTo>
                  <a:cubicBezTo>
                    <a:pt x="0" y="384302"/>
                    <a:pt x="384302" y="0"/>
                    <a:pt x="858393" y="0"/>
                  </a:cubicBezTo>
                  <a:lnTo>
                    <a:pt x="6304915" y="0"/>
                  </a:lnTo>
                  <a:cubicBezTo>
                    <a:pt x="6779006" y="0"/>
                    <a:pt x="7163308" y="384302"/>
                    <a:pt x="7163308" y="858393"/>
                  </a:cubicBezTo>
                  <a:lnTo>
                    <a:pt x="7163308" y="4291711"/>
                  </a:lnTo>
                  <a:cubicBezTo>
                    <a:pt x="7163308" y="4765802"/>
                    <a:pt x="6779006" y="5150104"/>
                    <a:pt x="6304915" y="5150104"/>
                  </a:cubicBezTo>
                  <a:lnTo>
                    <a:pt x="858393" y="5150104"/>
                  </a:lnTo>
                  <a:cubicBezTo>
                    <a:pt x="384302" y="5150104"/>
                    <a:pt x="0" y="4765802"/>
                    <a:pt x="0" y="4291711"/>
                  </a:cubicBezTo>
                  <a:close/>
                </a:path>
              </a:pathLst>
            </a:custGeom>
            <a:solidFill>
              <a:srgbClr val="F3E5F5"/>
            </a:solidFill>
            <a:ln w="19065" cap="sq">
              <a:solidFill>
                <a:srgbClr val="7B1F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955430" y="2461336"/>
            <a:ext cx="1601591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5489" y="3498409"/>
            <a:ext cx="4621473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7B1FA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Yield Prediction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82763" y="4116114"/>
            <a:ext cx="4346943" cy="174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ML-based forecasting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trends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Market strategy planning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18836" y="6584061"/>
            <a:ext cx="5362956" cy="2754878"/>
            <a:chOff x="0" y="0"/>
            <a:chExt cx="7150608" cy="36731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50608" cy="3673221"/>
            </a:xfrm>
            <a:custGeom>
              <a:avLst/>
              <a:gdLst/>
              <a:ahLst/>
              <a:cxnLst/>
              <a:rect l="l" t="t" r="r" b="b"/>
              <a:pathLst>
                <a:path w="7150608" h="3673221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6538341" y="0"/>
                  </a:lnTo>
                  <a:cubicBezTo>
                    <a:pt x="6876415" y="0"/>
                    <a:pt x="7150608" y="274066"/>
                    <a:pt x="7150608" y="612267"/>
                  </a:cubicBezTo>
                  <a:lnTo>
                    <a:pt x="7150608" y="3060954"/>
                  </a:lnTo>
                  <a:cubicBezTo>
                    <a:pt x="7150608" y="3399028"/>
                    <a:pt x="6876542" y="3673221"/>
                    <a:pt x="6538341" y="3673221"/>
                  </a:cubicBezTo>
                  <a:lnTo>
                    <a:pt x="612267" y="3673221"/>
                  </a:lnTo>
                  <a:cubicBezTo>
                    <a:pt x="274066" y="3673221"/>
                    <a:pt x="0" y="3399028"/>
                    <a:pt x="0" y="3060954"/>
                  </a:cubicBezTo>
                  <a:close/>
                </a:path>
              </a:pathLst>
            </a:custGeom>
            <a:solidFill>
              <a:srgbClr val="E8F5E9"/>
            </a:solidFill>
            <a:ln w="9532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9577" y="6686093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13185" y="6783295"/>
            <a:ext cx="3660600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Marketplace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3185" y="7351414"/>
            <a:ext cx="3660600" cy="159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Buy seeds/fertilizers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Sell produce directly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Fair pricing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46796" y="6584061"/>
            <a:ext cx="5362956" cy="2754878"/>
            <a:chOff x="0" y="0"/>
            <a:chExt cx="7150608" cy="36731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50608" cy="3673221"/>
            </a:xfrm>
            <a:custGeom>
              <a:avLst/>
              <a:gdLst/>
              <a:ahLst/>
              <a:cxnLst/>
              <a:rect l="l" t="t" r="r" b="b"/>
              <a:pathLst>
                <a:path w="7150608" h="3673221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6538341" y="0"/>
                  </a:lnTo>
                  <a:cubicBezTo>
                    <a:pt x="6876415" y="0"/>
                    <a:pt x="7150608" y="274066"/>
                    <a:pt x="7150608" y="612267"/>
                  </a:cubicBezTo>
                  <a:lnTo>
                    <a:pt x="7150608" y="3060954"/>
                  </a:lnTo>
                  <a:cubicBezTo>
                    <a:pt x="7150608" y="3399028"/>
                    <a:pt x="6876542" y="3673221"/>
                    <a:pt x="6538341" y="3673221"/>
                  </a:cubicBezTo>
                  <a:lnTo>
                    <a:pt x="612267" y="3673221"/>
                  </a:lnTo>
                  <a:cubicBezTo>
                    <a:pt x="274066" y="3673221"/>
                    <a:pt x="0" y="3399028"/>
                    <a:pt x="0" y="3060954"/>
                  </a:cubicBezTo>
                  <a:close/>
                </a:path>
              </a:pathLst>
            </a:custGeom>
            <a:solidFill>
              <a:srgbClr val="E3F2FD"/>
            </a:solidFill>
            <a:ln w="9532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817538" y="6686093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🗣️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41136" y="6783295"/>
            <a:ext cx="3660600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 Assistant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41136" y="7351414"/>
            <a:ext cx="3660600" cy="159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Local languages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Voice-based advisory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For non-tech farmers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074747" y="6584061"/>
            <a:ext cx="5362956" cy="2754878"/>
            <a:chOff x="0" y="0"/>
            <a:chExt cx="7150608" cy="36731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50608" cy="3673221"/>
            </a:xfrm>
            <a:custGeom>
              <a:avLst/>
              <a:gdLst/>
              <a:ahLst/>
              <a:cxnLst/>
              <a:rect l="l" t="t" r="r" b="b"/>
              <a:pathLst>
                <a:path w="7150608" h="3673221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6538341" y="0"/>
                  </a:lnTo>
                  <a:cubicBezTo>
                    <a:pt x="6876415" y="0"/>
                    <a:pt x="7150608" y="274066"/>
                    <a:pt x="7150608" y="612267"/>
                  </a:cubicBezTo>
                  <a:lnTo>
                    <a:pt x="7150608" y="3060954"/>
                  </a:lnTo>
                  <a:cubicBezTo>
                    <a:pt x="7150608" y="3399028"/>
                    <a:pt x="6876542" y="3673221"/>
                    <a:pt x="6538341" y="3673221"/>
                  </a:cubicBezTo>
                  <a:lnTo>
                    <a:pt x="612267" y="3673221"/>
                  </a:lnTo>
                  <a:cubicBezTo>
                    <a:pt x="274066" y="3673221"/>
                    <a:pt x="0" y="3399028"/>
                    <a:pt x="0" y="3060954"/>
                  </a:cubicBezTo>
                  <a:close/>
                </a:path>
              </a:pathLst>
            </a:custGeom>
            <a:solidFill>
              <a:srgbClr val="E0F2F1"/>
            </a:solidFill>
            <a:ln w="9532" cap="sq">
              <a:solidFill>
                <a:srgbClr val="0083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445489" y="6686093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69097" y="6783295"/>
            <a:ext cx="3660600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083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Offline-First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69097" y="7351414"/>
            <a:ext cx="3660600" cy="159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Works without internet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Syncs when connected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Rural India ready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9/21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1C97E-D32E-2B62-FBC5-6A2B690B82F0}"/>
              </a:ext>
            </a:extLst>
          </p:cNvPr>
          <p:cNvSpPr txBox="1"/>
          <p:nvPr/>
        </p:nvSpPr>
        <p:spPr>
          <a:xfrm>
            <a:off x="685800" y="190500"/>
            <a:ext cx="76562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🏗️  </a:t>
            </a:r>
            <a:r>
              <a:rPr lang="en-US" sz="4800" b="1" dirty="0">
                <a:solidFill>
                  <a:schemeClr val="accent3">
                    <a:lumMod val="50000"/>
                  </a:schemeClr>
                </a:solidFill>
              </a:rPr>
              <a:t>System Architecture</a:t>
            </a:r>
          </a:p>
          <a:p>
            <a:r>
              <a:rPr lang="en-IN" sz="2400" dirty="0"/>
              <a:t>                Smart, AI-Powered &amp; Connected Farming Platform</a:t>
            </a:r>
            <a:r>
              <a:rPr lang="en-US" sz="2400" dirty="0"/>
              <a:t> 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3E35F-F235-86B9-0F8F-FFB4D7B96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390829"/>
            <a:ext cx="12801600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1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💻  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Tools &amp; Technologies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8603" y="2324014"/>
            <a:ext cx="4823422" cy="4823422"/>
            <a:chOff x="0" y="0"/>
            <a:chExt cx="6431229" cy="64312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31153" cy="6431153"/>
            </a:xfrm>
            <a:custGeom>
              <a:avLst/>
              <a:gdLst/>
              <a:ahLst/>
              <a:cxnLst/>
              <a:rect l="l" t="t" r="r" b="b"/>
              <a:pathLst>
                <a:path w="6431153" h="6431153">
                  <a:moveTo>
                    <a:pt x="0" y="1071880"/>
                  </a:moveTo>
                  <a:cubicBezTo>
                    <a:pt x="0" y="479933"/>
                    <a:pt x="479933" y="0"/>
                    <a:pt x="1071880" y="0"/>
                  </a:cubicBezTo>
                  <a:lnTo>
                    <a:pt x="5359273" y="0"/>
                  </a:lnTo>
                  <a:cubicBezTo>
                    <a:pt x="5951220" y="0"/>
                    <a:pt x="6431153" y="479933"/>
                    <a:pt x="6431153" y="1071880"/>
                  </a:cubicBezTo>
                  <a:lnTo>
                    <a:pt x="6431153" y="5359273"/>
                  </a:lnTo>
                  <a:cubicBezTo>
                    <a:pt x="6431153" y="5951220"/>
                    <a:pt x="5951220" y="6431153"/>
                    <a:pt x="5359273" y="6431153"/>
                  </a:cubicBezTo>
                  <a:lnTo>
                    <a:pt x="1071880" y="6431153"/>
                  </a:lnTo>
                  <a:cubicBezTo>
                    <a:pt x="479933" y="6431280"/>
                    <a:pt x="0" y="5951347"/>
                    <a:pt x="0" y="5359273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95479" y="2459384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09941" y="2951245"/>
            <a:ext cx="3980755" cy="27451"/>
            <a:chOff x="0" y="0"/>
            <a:chExt cx="5307673" cy="366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07711" cy="36576"/>
            </a:xfrm>
            <a:custGeom>
              <a:avLst/>
              <a:gdLst/>
              <a:ahLst/>
              <a:cxnLst/>
              <a:rect l="l" t="t" r="r" b="b"/>
              <a:pathLst>
                <a:path w="5307711" h="36576">
                  <a:moveTo>
                    <a:pt x="0" y="0"/>
                  </a:moveTo>
                  <a:lnTo>
                    <a:pt x="5307711" y="0"/>
                  </a:lnTo>
                  <a:lnTo>
                    <a:pt x="5307711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565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64116" y="3096130"/>
            <a:ext cx="111115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⚛️ React.js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4116" y="3480483"/>
            <a:ext cx="115292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📱 Flutter /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4116" y="3864826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🎨 Tailwind CSS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67495" y="2324014"/>
            <a:ext cx="4823422" cy="4823422"/>
            <a:chOff x="0" y="0"/>
            <a:chExt cx="6431229" cy="64312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31153" cy="6431153"/>
            </a:xfrm>
            <a:custGeom>
              <a:avLst/>
              <a:gdLst/>
              <a:ahLst/>
              <a:cxnLst/>
              <a:rect l="l" t="t" r="r" b="b"/>
              <a:pathLst>
                <a:path w="6431153" h="6431153">
                  <a:moveTo>
                    <a:pt x="0" y="1071880"/>
                  </a:moveTo>
                  <a:cubicBezTo>
                    <a:pt x="0" y="479933"/>
                    <a:pt x="479933" y="0"/>
                    <a:pt x="1071880" y="0"/>
                  </a:cubicBezTo>
                  <a:lnTo>
                    <a:pt x="5359273" y="0"/>
                  </a:lnTo>
                  <a:cubicBezTo>
                    <a:pt x="5951220" y="0"/>
                    <a:pt x="6431153" y="479933"/>
                    <a:pt x="6431153" y="1071880"/>
                  </a:cubicBezTo>
                  <a:lnTo>
                    <a:pt x="6431153" y="5359273"/>
                  </a:lnTo>
                  <a:cubicBezTo>
                    <a:pt x="6431153" y="5951220"/>
                    <a:pt x="5951220" y="6431153"/>
                    <a:pt x="5359273" y="6431153"/>
                  </a:cubicBezTo>
                  <a:lnTo>
                    <a:pt x="1071880" y="6431153"/>
                  </a:lnTo>
                  <a:cubicBezTo>
                    <a:pt x="479933" y="6431280"/>
                    <a:pt x="0" y="5951347"/>
                    <a:pt x="0" y="5359273"/>
                  </a:cubicBezTo>
                  <a:close/>
                </a:path>
              </a:pathLst>
            </a:custGeom>
            <a:solidFill>
              <a:srgbClr val="E8F5E9"/>
            </a:solidFill>
            <a:ln w="19065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474371" y="2459384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88824" y="2951245"/>
            <a:ext cx="3980755" cy="27451"/>
            <a:chOff x="0" y="0"/>
            <a:chExt cx="5307673" cy="366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07711" cy="36576"/>
            </a:xfrm>
            <a:custGeom>
              <a:avLst/>
              <a:gdLst/>
              <a:ahLst/>
              <a:cxnLst/>
              <a:rect l="l" t="t" r="r" b="b"/>
              <a:pathLst>
                <a:path w="5307711" h="36576">
                  <a:moveTo>
                    <a:pt x="0" y="0"/>
                  </a:moveTo>
                  <a:lnTo>
                    <a:pt x="5307711" y="0"/>
                  </a:lnTo>
                  <a:lnTo>
                    <a:pt x="5307711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542999" y="3096130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🟢 Node.js + Express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42999" y="3480483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🐍 Python FastAPI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42999" y="3864826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🔗 GraphQL + REST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58344" y="4218294"/>
            <a:ext cx="2204656" cy="270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🔐 JWT Auth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246377" y="2324014"/>
            <a:ext cx="4823422" cy="4823422"/>
            <a:chOff x="0" y="0"/>
            <a:chExt cx="6431229" cy="64312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31153" cy="6431153"/>
            </a:xfrm>
            <a:custGeom>
              <a:avLst/>
              <a:gdLst/>
              <a:ahLst/>
              <a:cxnLst/>
              <a:rect l="l" t="t" r="r" b="b"/>
              <a:pathLst>
                <a:path w="6431153" h="6431153">
                  <a:moveTo>
                    <a:pt x="0" y="1071880"/>
                  </a:moveTo>
                  <a:cubicBezTo>
                    <a:pt x="0" y="479933"/>
                    <a:pt x="479933" y="0"/>
                    <a:pt x="1071880" y="0"/>
                  </a:cubicBezTo>
                  <a:lnTo>
                    <a:pt x="5359273" y="0"/>
                  </a:lnTo>
                  <a:cubicBezTo>
                    <a:pt x="5951220" y="0"/>
                    <a:pt x="6431153" y="479933"/>
                    <a:pt x="6431153" y="1071880"/>
                  </a:cubicBezTo>
                  <a:lnTo>
                    <a:pt x="6431153" y="5359273"/>
                  </a:lnTo>
                  <a:cubicBezTo>
                    <a:pt x="6431153" y="5951220"/>
                    <a:pt x="5951220" y="6431153"/>
                    <a:pt x="5359273" y="6431153"/>
                  </a:cubicBezTo>
                  <a:lnTo>
                    <a:pt x="1071880" y="6431153"/>
                  </a:lnTo>
                  <a:cubicBezTo>
                    <a:pt x="479933" y="6431280"/>
                    <a:pt x="0" y="5951347"/>
                    <a:pt x="0" y="5359273"/>
                  </a:cubicBezTo>
                  <a:close/>
                </a:path>
              </a:pathLst>
            </a:custGeom>
            <a:solidFill>
              <a:srgbClr val="F3E5F5"/>
            </a:solidFill>
            <a:ln w="19065" cap="sq">
              <a:solidFill>
                <a:srgbClr val="7B1F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3254" y="2459384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7B1FA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AI/ML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667715" y="2951245"/>
            <a:ext cx="3980755" cy="27451"/>
            <a:chOff x="0" y="0"/>
            <a:chExt cx="5307673" cy="366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07711" cy="36576"/>
            </a:xfrm>
            <a:custGeom>
              <a:avLst/>
              <a:gdLst/>
              <a:ahLst/>
              <a:cxnLst/>
              <a:rect l="l" t="t" r="r" b="b"/>
              <a:pathLst>
                <a:path w="5307711" h="36576">
                  <a:moveTo>
                    <a:pt x="0" y="0"/>
                  </a:moveTo>
                  <a:lnTo>
                    <a:pt x="5307711" y="0"/>
                  </a:lnTo>
                  <a:lnTo>
                    <a:pt x="5307711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621891" y="3096130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🧠 TensorFlow / PyTorch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21891" y="3480483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👁️ OpenCV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21891" y="3864826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📈 Scikit-learn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88603" y="7402897"/>
            <a:ext cx="4823422" cy="2352608"/>
            <a:chOff x="0" y="0"/>
            <a:chExt cx="6431229" cy="31368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31280" cy="3136900"/>
            </a:xfrm>
            <a:custGeom>
              <a:avLst/>
              <a:gdLst/>
              <a:ahLst/>
              <a:cxnLst/>
              <a:rect l="l" t="t" r="r" b="b"/>
              <a:pathLst>
                <a:path w="6431280" h="3136900">
                  <a:moveTo>
                    <a:pt x="0" y="522859"/>
                  </a:moveTo>
                  <a:cubicBezTo>
                    <a:pt x="0" y="234061"/>
                    <a:pt x="234061" y="0"/>
                    <a:pt x="522859" y="0"/>
                  </a:cubicBezTo>
                  <a:lnTo>
                    <a:pt x="5908421" y="0"/>
                  </a:lnTo>
                  <a:cubicBezTo>
                    <a:pt x="6197219" y="0"/>
                    <a:pt x="6431280" y="234061"/>
                    <a:pt x="6431280" y="522859"/>
                  </a:cubicBezTo>
                  <a:lnTo>
                    <a:pt x="6431280" y="2614041"/>
                  </a:lnTo>
                  <a:cubicBezTo>
                    <a:pt x="6431280" y="2902839"/>
                    <a:pt x="6197219" y="3136900"/>
                    <a:pt x="5908421" y="3136900"/>
                  </a:cubicBezTo>
                  <a:lnTo>
                    <a:pt x="522859" y="3136900"/>
                  </a:lnTo>
                  <a:cubicBezTo>
                    <a:pt x="234061" y="3136773"/>
                    <a:pt x="0" y="2902712"/>
                    <a:pt x="0" y="2614041"/>
                  </a:cubicBezTo>
                  <a:close/>
                </a:path>
              </a:pathLst>
            </a:custGeom>
            <a:solidFill>
              <a:srgbClr val="FFF3E0"/>
            </a:solidFill>
            <a:ln w="19065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95479" y="7538266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E6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09941" y="8030137"/>
            <a:ext cx="3980755" cy="27451"/>
            <a:chOff x="0" y="0"/>
            <a:chExt cx="5307673" cy="3660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07711" cy="36576"/>
            </a:xfrm>
            <a:custGeom>
              <a:avLst/>
              <a:gdLst/>
              <a:ahLst/>
              <a:cxnLst/>
              <a:rect l="l" t="t" r="r" b="b"/>
              <a:pathLst>
                <a:path w="5307711" h="36576">
                  <a:moveTo>
                    <a:pt x="0" y="0"/>
                  </a:moveTo>
                  <a:lnTo>
                    <a:pt x="5307711" y="0"/>
                  </a:lnTo>
                  <a:lnTo>
                    <a:pt x="5307711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65C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64116" y="8175022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🐘 PostgreSQL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64116" y="8559365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🍃 MongoDB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167495" y="7402897"/>
            <a:ext cx="4823422" cy="2352608"/>
            <a:chOff x="0" y="0"/>
            <a:chExt cx="6431229" cy="313681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31280" cy="3136900"/>
            </a:xfrm>
            <a:custGeom>
              <a:avLst/>
              <a:gdLst/>
              <a:ahLst/>
              <a:cxnLst/>
              <a:rect l="l" t="t" r="r" b="b"/>
              <a:pathLst>
                <a:path w="6431280" h="3136900">
                  <a:moveTo>
                    <a:pt x="0" y="522859"/>
                  </a:moveTo>
                  <a:cubicBezTo>
                    <a:pt x="0" y="234061"/>
                    <a:pt x="234061" y="0"/>
                    <a:pt x="522859" y="0"/>
                  </a:cubicBezTo>
                  <a:lnTo>
                    <a:pt x="5908421" y="0"/>
                  </a:lnTo>
                  <a:cubicBezTo>
                    <a:pt x="6197219" y="0"/>
                    <a:pt x="6431280" y="234061"/>
                    <a:pt x="6431280" y="522859"/>
                  </a:cubicBezTo>
                  <a:lnTo>
                    <a:pt x="6431280" y="2614041"/>
                  </a:lnTo>
                  <a:cubicBezTo>
                    <a:pt x="6431280" y="2902839"/>
                    <a:pt x="6197219" y="3136900"/>
                    <a:pt x="5908421" y="3136900"/>
                  </a:cubicBezTo>
                  <a:lnTo>
                    <a:pt x="522859" y="3136900"/>
                  </a:lnTo>
                  <a:cubicBezTo>
                    <a:pt x="234061" y="3136773"/>
                    <a:pt x="0" y="2902712"/>
                    <a:pt x="0" y="2614041"/>
                  </a:cubicBezTo>
                  <a:close/>
                </a:path>
              </a:pathLst>
            </a:custGeom>
            <a:solidFill>
              <a:srgbClr val="E0F2F1"/>
            </a:solidFill>
            <a:ln w="19065" cap="sq">
              <a:solidFill>
                <a:srgbClr val="0083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474371" y="7538266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083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IoT &amp; CLOUD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588824" y="8030137"/>
            <a:ext cx="3980755" cy="27451"/>
            <a:chOff x="0" y="0"/>
            <a:chExt cx="5307673" cy="366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307711" cy="36576"/>
            </a:xfrm>
            <a:custGeom>
              <a:avLst/>
              <a:gdLst/>
              <a:ahLst/>
              <a:cxnLst/>
              <a:rect l="l" t="t" r="r" b="b"/>
              <a:pathLst>
                <a:path w="5307711" h="36576">
                  <a:moveTo>
                    <a:pt x="0" y="0"/>
                  </a:moveTo>
                  <a:lnTo>
                    <a:pt x="5307711" y="0"/>
                  </a:lnTo>
                  <a:lnTo>
                    <a:pt x="5307711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0838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542999" y="8175022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📡 MQTT Protocol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42999" y="8559365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☁️ AWS / Azure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42999" y="8943718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🐳 Docker + K8s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42999" y="9328061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🔄 GitHub Actions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1246377" y="7402897"/>
            <a:ext cx="4823422" cy="2352608"/>
            <a:chOff x="0" y="0"/>
            <a:chExt cx="6431229" cy="313681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31280" cy="3136900"/>
            </a:xfrm>
            <a:custGeom>
              <a:avLst/>
              <a:gdLst/>
              <a:ahLst/>
              <a:cxnLst/>
              <a:rect l="l" t="t" r="r" b="b"/>
              <a:pathLst>
                <a:path w="6431280" h="3136900">
                  <a:moveTo>
                    <a:pt x="0" y="522859"/>
                  </a:moveTo>
                  <a:cubicBezTo>
                    <a:pt x="0" y="234061"/>
                    <a:pt x="234061" y="0"/>
                    <a:pt x="522859" y="0"/>
                  </a:cubicBezTo>
                  <a:lnTo>
                    <a:pt x="5908421" y="0"/>
                  </a:lnTo>
                  <a:cubicBezTo>
                    <a:pt x="6197219" y="0"/>
                    <a:pt x="6431280" y="234061"/>
                    <a:pt x="6431280" y="522859"/>
                  </a:cubicBezTo>
                  <a:lnTo>
                    <a:pt x="6431280" y="2614041"/>
                  </a:lnTo>
                  <a:cubicBezTo>
                    <a:pt x="6431280" y="2902839"/>
                    <a:pt x="6197219" y="3136900"/>
                    <a:pt x="5908421" y="3136900"/>
                  </a:cubicBezTo>
                  <a:lnTo>
                    <a:pt x="522859" y="3136900"/>
                  </a:lnTo>
                  <a:cubicBezTo>
                    <a:pt x="234061" y="3136773"/>
                    <a:pt x="0" y="2902712"/>
                    <a:pt x="0" y="2614041"/>
                  </a:cubicBezTo>
                  <a:close/>
                </a:path>
              </a:pathLst>
            </a:custGeom>
            <a:solidFill>
              <a:srgbClr val="FFEBEE"/>
            </a:solidFill>
            <a:ln w="19065" cap="sq">
              <a:solidFill>
                <a:srgbClr val="C6282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553254" y="7538266"/>
            <a:ext cx="4209669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EXTERNAL APIs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621891" y="8175022"/>
            <a:ext cx="4072404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🌤️ OpenWeatherMap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12/21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88823" y="4624379"/>
            <a:ext cx="2783775" cy="270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🟢 Spring boot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6732" y="231186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🔑  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Platform Capabilities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8836" y="2328777"/>
            <a:ext cx="3990280" cy="2274446"/>
            <a:chOff x="0" y="0"/>
            <a:chExt cx="5320373" cy="30325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3F2FD"/>
            </a:solidFill>
            <a:ln w="9532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52312" y="2430809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🗺️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7283" y="2596648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Map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074120" y="2328777"/>
            <a:ext cx="3990280" cy="2274446"/>
            <a:chOff x="0" y="0"/>
            <a:chExt cx="5320373" cy="30325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8F5E9"/>
            </a:solidFill>
            <a:ln w="9532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07597" y="2430809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62567" y="2596648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Advisor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29404" y="2328777"/>
            <a:ext cx="3990280" cy="2274446"/>
            <a:chOff x="0" y="0"/>
            <a:chExt cx="5320373" cy="30325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0F7FA"/>
            </a:solidFill>
            <a:ln w="9532" cap="sq">
              <a:solidFill>
                <a:srgbClr val="0083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62881" y="2430809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7851" y="2596648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083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Irrigation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584688" y="2328777"/>
            <a:ext cx="3990280" cy="2274446"/>
            <a:chOff x="0" y="0"/>
            <a:chExt cx="5320373" cy="30325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FF3E0"/>
            </a:solidFill>
            <a:ln w="9532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818165" y="2430809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🌤️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573136" y="2596648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E6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Weather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18836" y="4868218"/>
            <a:ext cx="3990280" cy="2274446"/>
            <a:chOff x="0" y="0"/>
            <a:chExt cx="5320373" cy="30325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FEBEE"/>
            </a:solidFill>
            <a:ln w="9532" cap="sq">
              <a:solidFill>
                <a:srgbClr val="C6282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52312" y="4970250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7283" y="5136090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Pest Control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074120" y="4868218"/>
            <a:ext cx="3990280" cy="2274446"/>
            <a:chOff x="0" y="0"/>
            <a:chExt cx="5320373" cy="303259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3E5F5"/>
            </a:solidFill>
            <a:ln w="9532" cap="sq">
              <a:solidFill>
                <a:srgbClr val="7B1F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07597" y="4970250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62567" y="5136090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7B1FA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29404" y="4868218"/>
            <a:ext cx="3990280" cy="2274446"/>
            <a:chOff x="0" y="0"/>
            <a:chExt cx="5320373" cy="303259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DF2E9"/>
            </a:solidFill>
            <a:ln w="9532" cap="sq">
              <a:solidFill>
                <a:srgbClr val="BF360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562881" y="4970250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17851" y="5136090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BF360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Marketplace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3584688" y="4868218"/>
            <a:ext cx="3990280" cy="2274446"/>
            <a:chOff x="0" y="0"/>
            <a:chExt cx="5320373" cy="303259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8EAF6"/>
            </a:solidFill>
            <a:ln w="9532" cap="sq">
              <a:solidFill>
                <a:srgbClr val="303F9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818165" y="4970250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🗣️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573136" y="5136090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303F9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 Bot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18836" y="7407669"/>
            <a:ext cx="3990280" cy="2274446"/>
            <a:chOff x="0" y="0"/>
            <a:chExt cx="5320373" cy="30325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0F2F1"/>
            </a:solidFill>
            <a:ln w="9532" cap="sq">
              <a:solidFill>
                <a:srgbClr val="00695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52312" y="7509691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👨‍🌾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07283" y="7675531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06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Community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074120" y="7407669"/>
            <a:ext cx="3990280" cy="2274446"/>
            <a:chOff x="0" y="0"/>
            <a:chExt cx="5320373" cy="303259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CE4EC"/>
            </a:solidFill>
            <a:ln w="9532" cap="sq">
              <a:solidFill>
                <a:srgbClr val="AD14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307597" y="7509691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62567" y="7675531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AD14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App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329404" y="7407669"/>
            <a:ext cx="3990280" cy="2274446"/>
            <a:chOff x="0" y="0"/>
            <a:chExt cx="5320373" cy="303259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FFF9C4"/>
            </a:solidFill>
            <a:ln w="9532" cap="sq">
              <a:solidFill>
                <a:srgbClr val="F57F1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9562881" y="7509691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317851" y="7675531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F57F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3584688" y="7407669"/>
            <a:ext cx="3990280" cy="2274446"/>
            <a:chOff x="0" y="0"/>
            <a:chExt cx="5320373" cy="303259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20411" cy="3032633"/>
            </a:xfrm>
            <a:custGeom>
              <a:avLst/>
              <a:gdLst/>
              <a:ahLst/>
              <a:cxnLst/>
              <a:rect l="l" t="t" r="r" b="b"/>
              <a:pathLst>
                <a:path w="5320411" h="3032633">
                  <a:moveTo>
                    <a:pt x="0" y="505460"/>
                  </a:moveTo>
                  <a:cubicBezTo>
                    <a:pt x="0" y="226314"/>
                    <a:pt x="226314" y="0"/>
                    <a:pt x="505460" y="0"/>
                  </a:cubicBezTo>
                  <a:lnTo>
                    <a:pt x="4814951" y="0"/>
                  </a:lnTo>
                  <a:cubicBezTo>
                    <a:pt x="5094097" y="0"/>
                    <a:pt x="5320411" y="226314"/>
                    <a:pt x="5320411" y="505460"/>
                  </a:cubicBezTo>
                  <a:lnTo>
                    <a:pt x="5320411" y="2527173"/>
                  </a:lnTo>
                  <a:cubicBezTo>
                    <a:pt x="5320411" y="2806319"/>
                    <a:pt x="5094097" y="3032633"/>
                    <a:pt x="4814951" y="3032633"/>
                  </a:cubicBezTo>
                  <a:lnTo>
                    <a:pt x="505460" y="3032633"/>
                  </a:lnTo>
                  <a:cubicBezTo>
                    <a:pt x="226314" y="3032633"/>
                    <a:pt x="0" y="2806319"/>
                    <a:pt x="0" y="2527173"/>
                  </a:cubicBezTo>
                  <a:close/>
                </a:path>
              </a:pathLst>
            </a:custGeom>
            <a:solidFill>
              <a:srgbClr val="E8F5E9"/>
            </a:solidFill>
            <a:ln w="9532" cap="sq">
              <a:solidFill>
                <a:srgbClr val="1B5E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3818165" y="7509691"/>
            <a:ext cx="503453" cy="68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573136" y="7675531"/>
            <a:ext cx="2562463" cy="4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13/21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95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✅  Benefits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9577" y="1243022"/>
            <a:ext cx="14916512" cy="49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Impact &amp; Advantages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8603" y="2324014"/>
            <a:ext cx="5097951" cy="7294226"/>
            <a:chOff x="0" y="0"/>
            <a:chExt cx="6797269" cy="97256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7167" cy="9725534"/>
            </a:xfrm>
            <a:custGeom>
              <a:avLst/>
              <a:gdLst/>
              <a:ahLst/>
              <a:cxnLst/>
              <a:rect l="l" t="t" r="r" b="b"/>
              <a:pathLst>
                <a:path w="6797167" h="9725534">
                  <a:moveTo>
                    <a:pt x="0" y="1132840"/>
                  </a:moveTo>
                  <a:cubicBezTo>
                    <a:pt x="0" y="507238"/>
                    <a:pt x="507238" y="0"/>
                    <a:pt x="1132840" y="0"/>
                  </a:cubicBezTo>
                  <a:lnTo>
                    <a:pt x="5664327" y="0"/>
                  </a:lnTo>
                  <a:cubicBezTo>
                    <a:pt x="6290056" y="0"/>
                    <a:pt x="6797167" y="507238"/>
                    <a:pt x="6797167" y="1132840"/>
                  </a:cubicBezTo>
                  <a:lnTo>
                    <a:pt x="6797167" y="8592693"/>
                  </a:lnTo>
                  <a:cubicBezTo>
                    <a:pt x="6797167" y="9218423"/>
                    <a:pt x="6289929" y="9725533"/>
                    <a:pt x="5664327" y="9725533"/>
                  </a:cubicBezTo>
                  <a:lnTo>
                    <a:pt x="1132840" y="9725533"/>
                  </a:lnTo>
                  <a:cubicBezTo>
                    <a:pt x="507238" y="9725660"/>
                    <a:pt x="0" y="9218422"/>
                    <a:pt x="0" y="8592693"/>
                  </a:cubicBezTo>
                  <a:close/>
                </a:path>
              </a:pathLst>
            </a:custGeom>
            <a:solidFill>
              <a:srgbClr val="E8F5E9"/>
            </a:solidFill>
            <a:ln w="19065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62254" y="2529973"/>
            <a:ext cx="2150659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👨‍🌾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479" y="3507934"/>
            <a:ext cx="4484208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FARMERS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84471" y="4118019"/>
            <a:ext cx="3706216" cy="41177"/>
            <a:chOff x="0" y="0"/>
            <a:chExt cx="4941621" cy="549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01381" y="4390644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📈 20-30% yield increase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1381" y="5351516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💧 30-40% water savings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1381" y="6312389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🧪 25% less chemicals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1381" y="7273261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💰 Better market prices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442024" y="2324014"/>
            <a:ext cx="5097951" cy="7294226"/>
            <a:chOff x="0" y="0"/>
            <a:chExt cx="6797269" cy="97256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97167" cy="9725534"/>
            </a:xfrm>
            <a:custGeom>
              <a:avLst/>
              <a:gdLst/>
              <a:ahLst/>
              <a:cxnLst/>
              <a:rect l="l" t="t" r="r" b="b"/>
              <a:pathLst>
                <a:path w="6797167" h="9725534">
                  <a:moveTo>
                    <a:pt x="0" y="1132840"/>
                  </a:moveTo>
                  <a:cubicBezTo>
                    <a:pt x="0" y="507238"/>
                    <a:pt x="507238" y="0"/>
                    <a:pt x="1132840" y="0"/>
                  </a:cubicBezTo>
                  <a:lnTo>
                    <a:pt x="5664327" y="0"/>
                  </a:lnTo>
                  <a:cubicBezTo>
                    <a:pt x="6290056" y="0"/>
                    <a:pt x="6797167" y="507238"/>
                    <a:pt x="6797167" y="1132840"/>
                  </a:cubicBezTo>
                  <a:lnTo>
                    <a:pt x="6797167" y="8592693"/>
                  </a:lnTo>
                  <a:cubicBezTo>
                    <a:pt x="6797167" y="9218423"/>
                    <a:pt x="6289929" y="9725533"/>
                    <a:pt x="5664327" y="9725533"/>
                  </a:cubicBezTo>
                  <a:lnTo>
                    <a:pt x="1132840" y="9725533"/>
                  </a:lnTo>
                  <a:cubicBezTo>
                    <a:pt x="507238" y="9725660"/>
                    <a:pt x="0" y="9218422"/>
                    <a:pt x="0" y="8592693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915675" y="2529973"/>
            <a:ext cx="2150659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48901" y="3507934"/>
            <a:ext cx="4484208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ENVIRONMENT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137892" y="4118019"/>
            <a:ext cx="3706216" cy="41177"/>
            <a:chOff x="0" y="0"/>
            <a:chExt cx="4941621" cy="549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1565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54803" y="4390644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🧪 Reduced chemical runoff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54803" y="5351516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💧 Water conservation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4803" y="6312389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🌱 Sustainable farming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54803" y="7273261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🌡️ Lower carbon footprint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795446" y="2324014"/>
            <a:ext cx="5097951" cy="7294226"/>
            <a:chOff x="0" y="0"/>
            <a:chExt cx="6797269" cy="972563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97167" cy="9725534"/>
            </a:xfrm>
            <a:custGeom>
              <a:avLst/>
              <a:gdLst/>
              <a:ahLst/>
              <a:cxnLst/>
              <a:rect l="l" t="t" r="r" b="b"/>
              <a:pathLst>
                <a:path w="6797167" h="9725534">
                  <a:moveTo>
                    <a:pt x="0" y="1132840"/>
                  </a:moveTo>
                  <a:cubicBezTo>
                    <a:pt x="0" y="507238"/>
                    <a:pt x="507238" y="0"/>
                    <a:pt x="1132840" y="0"/>
                  </a:cubicBezTo>
                  <a:lnTo>
                    <a:pt x="5664327" y="0"/>
                  </a:lnTo>
                  <a:cubicBezTo>
                    <a:pt x="6290056" y="0"/>
                    <a:pt x="6797167" y="507238"/>
                    <a:pt x="6797167" y="1132840"/>
                  </a:cubicBezTo>
                  <a:lnTo>
                    <a:pt x="6797167" y="8592693"/>
                  </a:lnTo>
                  <a:cubicBezTo>
                    <a:pt x="6797167" y="9218423"/>
                    <a:pt x="6289929" y="9725533"/>
                    <a:pt x="5664327" y="9725533"/>
                  </a:cubicBezTo>
                  <a:lnTo>
                    <a:pt x="1132840" y="9725533"/>
                  </a:lnTo>
                  <a:cubicBezTo>
                    <a:pt x="507238" y="9725660"/>
                    <a:pt x="0" y="9218422"/>
                    <a:pt x="0" y="8592693"/>
                  </a:cubicBezTo>
                  <a:close/>
                </a:path>
              </a:pathLst>
            </a:custGeom>
            <a:solidFill>
              <a:srgbClr val="FFF3E0"/>
            </a:solidFill>
            <a:ln w="19065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269097" y="2529973"/>
            <a:ext cx="2150659" cy="85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02322" y="3507934"/>
            <a:ext cx="4484208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E6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ECONOMY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491323" y="4118019"/>
            <a:ext cx="3706216" cy="41177"/>
            <a:chOff x="0" y="0"/>
            <a:chExt cx="4941621" cy="549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E65C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308224" y="4390644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📈 Higher profitability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8224" y="5351516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🍎 Reduced food waste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08224" y="6312389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🌐 Rural digitization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08224" y="7273261"/>
            <a:ext cx="4209669" cy="77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👩‍💻 Agri-tech jobs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14/21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9577" y="371799"/>
            <a:ext cx="149165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🚀  Future Scope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4073" y="2324014"/>
            <a:ext cx="4068451" cy="7156961"/>
            <a:chOff x="0" y="0"/>
            <a:chExt cx="5424602" cy="95426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24551" cy="9542653"/>
            </a:xfrm>
            <a:custGeom>
              <a:avLst/>
              <a:gdLst/>
              <a:ahLst/>
              <a:cxnLst/>
              <a:rect l="l" t="t" r="r" b="b"/>
              <a:pathLst>
                <a:path w="5424551" h="9542653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8638540"/>
                  </a:lnTo>
                  <a:cubicBezTo>
                    <a:pt x="5424551" y="9137904"/>
                    <a:pt x="5019802" y="9542653"/>
                    <a:pt x="4520438" y="9542653"/>
                  </a:cubicBezTo>
                  <a:lnTo>
                    <a:pt x="904113" y="9542653"/>
                  </a:lnTo>
                  <a:cubicBezTo>
                    <a:pt x="404749" y="9542653"/>
                    <a:pt x="0" y="9137777"/>
                    <a:pt x="0" y="8638540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13185" y="2520448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🛰️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0940" y="3694786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Satellite Imagery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09941" y="4392549"/>
            <a:ext cx="2676716" cy="41177"/>
            <a:chOff x="0" y="0"/>
            <a:chExt cx="3568954" cy="549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1565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9577" y="4665183"/>
            <a:ext cx="3317434" cy="407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NDVI crop health from space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Large-scale monitoring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Detect stress before visible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424541" y="2326595"/>
            <a:ext cx="4321626" cy="7156961"/>
            <a:chOff x="0" y="0"/>
            <a:chExt cx="5424602" cy="95426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24551" cy="9542653"/>
            </a:xfrm>
            <a:custGeom>
              <a:avLst/>
              <a:gdLst/>
              <a:ahLst/>
              <a:cxnLst/>
              <a:rect l="l" t="t" r="r" b="b"/>
              <a:pathLst>
                <a:path w="5424551" h="9542653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8638540"/>
                  </a:lnTo>
                  <a:cubicBezTo>
                    <a:pt x="5424551" y="9137904"/>
                    <a:pt x="5019802" y="9542653"/>
                    <a:pt x="4520438" y="9542653"/>
                  </a:cubicBezTo>
                  <a:lnTo>
                    <a:pt x="904113" y="9542653"/>
                  </a:lnTo>
                  <a:cubicBezTo>
                    <a:pt x="404749" y="9542653"/>
                    <a:pt x="0" y="9137777"/>
                    <a:pt x="0" y="8638540"/>
                  </a:cubicBezTo>
                  <a:close/>
                </a:path>
              </a:pathLst>
            </a:custGeom>
            <a:solidFill>
              <a:srgbClr val="E8EAF6"/>
            </a:solidFill>
            <a:ln w="19065" cap="sq">
              <a:solidFill>
                <a:srgbClr val="303F9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337097" y="2520448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44861" y="3694786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303F9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Drone Monitoring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10084" y="4392549"/>
            <a:ext cx="2676716" cy="41177"/>
            <a:chOff x="0" y="0"/>
            <a:chExt cx="3568954" cy="549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303F9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513498" y="4665183"/>
            <a:ext cx="4087701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aerial surveys</a:t>
            </a:r>
          </a:p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 spraying</a:t>
            </a:r>
          </a:p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3D terrain mapping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180839" y="2326608"/>
            <a:ext cx="3850058" cy="7156961"/>
            <a:chOff x="0" y="0"/>
            <a:chExt cx="5424602" cy="95426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24551" cy="9542653"/>
            </a:xfrm>
            <a:custGeom>
              <a:avLst/>
              <a:gdLst/>
              <a:ahLst/>
              <a:cxnLst/>
              <a:rect l="l" t="t" r="r" b="b"/>
              <a:pathLst>
                <a:path w="5424551" h="9542653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8638540"/>
                  </a:lnTo>
                  <a:cubicBezTo>
                    <a:pt x="5424551" y="9137904"/>
                    <a:pt x="5019802" y="9542653"/>
                    <a:pt x="4520438" y="9542653"/>
                  </a:cubicBezTo>
                  <a:lnTo>
                    <a:pt x="904113" y="9542653"/>
                  </a:lnTo>
                  <a:cubicBezTo>
                    <a:pt x="404749" y="9542653"/>
                    <a:pt x="0" y="9137777"/>
                    <a:pt x="0" y="8638540"/>
                  </a:cubicBezTo>
                  <a:close/>
                </a:path>
              </a:pathLst>
            </a:custGeom>
            <a:solidFill>
              <a:srgbClr val="F3E5F5"/>
            </a:solidFill>
            <a:ln w="19065" cap="sq">
              <a:solidFill>
                <a:srgbClr val="7B1F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986402" y="2640301"/>
            <a:ext cx="1601591" cy="93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 dirty="0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  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1963" y="3694786"/>
            <a:ext cx="345469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 dirty="0">
                <a:solidFill>
                  <a:srgbClr val="7B1FA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Advanced Analytics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734484" y="4351372"/>
            <a:ext cx="2676716" cy="41177"/>
            <a:chOff x="0" y="0"/>
            <a:chExt cx="3568954" cy="549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79227" y="4665183"/>
            <a:ext cx="3850057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ROI calculators</a:t>
            </a:r>
          </a:p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Carbon credit tracking</a:t>
            </a:r>
          </a:p>
          <a:p>
            <a:pPr algn="ctr">
              <a:lnSpc>
                <a:spcPts val="2341"/>
              </a:lnSpc>
            </a:pPr>
            <a:r>
              <a:rPr lang="en-US" sz="1951" dirty="0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Water footprint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15/21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3"/>
            <a:chOff x="0" y="0"/>
            <a:chExt cx="24402453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12686"/>
            <a:ext cx="18301840" cy="82363"/>
            <a:chOff x="0" y="0"/>
            <a:chExt cx="24402453" cy="109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4073" y="2324014"/>
            <a:ext cx="4068451" cy="6196089"/>
            <a:chOff x="0" y="0"/>
            <a:chExt cx="5424602" cy="82614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24551" cy="8261477"/>
            </a:xfrm>
            <a:custGeom>
              <a:avLst/>
              <a:gdLst/>
              <a:ahLst/>
              <a:cxnLst/>
              <a:rect l="l" t="t" r="r" b="b"/>
              <a:pathLst>
                <a:path w="5424551" h="8261477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7357364"/>
                  </a:lnTo>
                  <a:cubicBezTo>
                    <a:pt x="5424551" y="7856728"/>
                    <a:pt x="5019802" y="8261477"/>
                    <a:pt x="4520438" y="8261477"/>
                  </a:cubicBezTo>
                  <a:lnTo>
                    <a:pt x="904113" y="8261477"/>
                  </a:lnTo>
                  <a:cubicBezTo>
                    <a:pt x="404749" y="8261477"/>
                    <a:pt x="0" y="7856728"/>
                    <a:pt x="0" y="7357364"/>
                  </a:cubicBezTo>
                  <a:close/>
                </a:path>
              </a:pathLst>
            </a:custGeom>
            <a:solidFill>
              <a:srgbClr val="FFF3E0"/>
            </a:solidFill>
            <a:ln w="19065" cap="sq">
              <a:solidFill>
                <a:srgbClr val="E65C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13185" y="2451811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🏛️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0940" y="3557521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E6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Govt Integration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09941" y="4255284"/>
            <a:ext cx="2676716" cy="41177"/>
            <a:chOff x="0" y="0"/>
            <a:chExt cx="3568954" cy="549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E65C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9577" y="4527918"/>
            <a:ext cx="3317434" cy="338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PM-KISAN link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Crop insurance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Subsidy recommendations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137985" y="2324014"/>
            <a:ext cx="4068451" cy="6196089"/>
            <a:chOff x="0" y="0"/>
            <a:chExt cx="5424602" cy="82614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24551" cy="8261477"/>
            </a:xfrm>
            <a:custGeom>
              <a:avLst/>
              <a:gdLst/>
              <a:ahLst/>
              <a:cxnLst/>
              <a:rect l="l" t="t" r="r" b="b"/>
              <a:pathLst>
                <a:path w="5424551" h="8261477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7357364"/>
                  </a:lnTo>
                  <a:cubicBezTo>
                    <a:pt x="5424551" y="7856728"/>
                    <a:pt x="5019802" y="8261477"/>
                    <a:pt x="4520438" y="8261477"/>
                  </a:cubicBezTo>
                  <a:lnTo>
                    <a:pt x="904113" y="8261477"/>
                  </a:lnTo>
                  <a:cubicBezTo>
                    <a:pt x="404749" y="8261477"/>
                    <a:pt x="0" y="7856728"/>
                    <a:pt x="0" y="7357364"/>
                  </a:cubicBezTo>
                  <a:close/>
                </a:path>
              </a:pathLst>
            </a:custGeom>
            <a:solidFill>
              <a:srgbClr val="E3F2FD"/>
            </a:solidFill>
            <a:ln w="19065" cap="sq">
              <a:solidFill>
                <a:srgbClr val="1565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337097" y="2451811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44861" y="3557521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IoT Expansion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33853" y="4255284"/>
            <a:ext cx="2676716" cy="41177"/>
            <a:chOff x="0" y="0"/>
            <a:chExt cx="3568954" cy="549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1565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13499" y="4527918"/>
            <a:ext cx="3317434" cy="338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Smart greenhouses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Livestock monitoring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Aquaculture integration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61906" y="2324014"/>
            <a:ext cx="4068451" cy="6196089"/>
            <a:chOff x="0" y="0"/>
            <a:chExt cx="5424602" cy="82614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24551" cy="8261477"/>
            </a:xfrm>
            <a:custGeom>
              <a:avLst/>
              <a:gdLst/>
              <a:ahLst/>
              <a:cxnLst/>
              <a:rect l="l" t="t" r="r" b="b"/>
              <a:pathLst>
                <a:path w="5424551" h="8261477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7357364"/>
                  </a:lnTo>
                  <a:cubicBezTo>
                    <a:pt x="5424551" y="7856728"/>
                    <a:pt x="5019802" y="8261477"/>
                    <a:pt x="4520438" y="8261477"/>
                  </a:cubicBezTo>
                  <a:lnTo>
                    <a:pt x="904113" y="8261477"/>
                  </a:lnTo>
                  <a:cubicBezTo>
                    <a:pt x="404749" y="8261477"/>
                    <a:pt x="0" y="7856728"/>
                    <a:pt x="0" y="7357364"/>
                  </a:cubicBezTo>
                  <a:close/>
                </a:path>
              </a:pathLst>
            </a:custGeom>
            <a:solidFill>
              <a:srgbClr val="E8EAF6"/>
            </a:solidFill>
            <a:ln w="19065" cap="sq">
              <a:solidFill>
                <a:srgbClr val="303F9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661018" y="2451811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68783" y="3557521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303F9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Crop Genome DB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157774" y="4255284"/>
            <a:ext cx="2676716" cy="41177"/>
            <a:chOff x="0" y="0"/>
            <a:chExt cx="3568954" cy="5490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303F9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837410" y="4527918"/>
            <a:ext cx="3317434" cy="338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AI-recommended varieties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Soil-crop matching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seed suggestions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785828" y="2324014"/>
            <a:ext cx="4068451" cy="6196089"/>
            <a:chOff x="0" y="0"/>
            <a:chExt cx="5424602" cy="82614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24551" cy="8261477"/>
            </a:xfrm>
            <a:custGeom>
              <a:avLst/>
              <a:gdLst/>
              <a:ahLst/>
              <a:cxnLst/>
              <a:rect l="l" t="t" r="r" b="b"/>
              <a:pathLst>
                <a:path w="5424551" h="8261477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7357364"/>
                  </a:lnTo>
                  <a:cubicBezTo>
                    <a:pt x="5424551" y="7856728"/>
                    <a:pt x="5019802" y="8261477"/>
                    <a:pt x="4520438" y="8261477"/>
                  </a:cubicBezTo>
                  <a:lnTo>
                    <a:pt x="904113" y="8261477"/>
                  </a:lnTo>
                  <a:cubicBezTo>
                    <a:pt x="404749" y="8261477"/>
                    <a:pt x="0" y="7856728"/>
                    <a:pt x="0" y="7357364"/>
                  </a:cubicBezTo>
                  <a:close/>
                </a:path>
              </a:pathLst>
            </a:custGeom>
            <a:solidFill>
              <a:srgbClr val="E8F5E9"/>
            </a:solidFill>
            <a:ln w="19065" cap="sq">
              <a:solidFill>
                <a:srgbClr val="2E7D3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984940" y="2451811"/>
            <a:ext cx="1601591" cy="86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92695" y="3557521"/>
            <a:ext cx="3454698" cy="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Autonomous Farming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481696" y="4255284"/>
            <a:ext cx="2676716" cy="41177"/>
            <a:chOff x="0" y="0"/>
            <a:chExt cx="3568954" cy="5490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68954" cy="54864"/>
            </a:xfrm>
            <a:custGeom>
              <a:avLst/>
              <a:gdLst/>
              <a:ahLst/>
              <a:cxnLst/>
              <a:rect l="l" t="t" r="r" b="b"/>
              <a:pathLst>
                <a:path w="3568954" h="54864">
                  <a:moveTo>
                    <a:pt x="0" y="0"/>
                  </a:moveTo>
                  <a:lnTo>
                    <a:pt x="3568954" y="0"/>
                  </a:lnTo>
                  <a:lnTo>
                    <a:pt x="356895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161332" y="4527918"/>
            <a:ext cx="3317434" cy="338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Robot harvesting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Self-driving tractors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planting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975312" y="9684963"/>
            <a:ext cx="1189796" cy="42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757575"/>
                </a:solidFill>
                <a:latin typeface="Calibri (MS)"/>
                <a:ea typeface="Calibri (MS)"/>
                <a:cs typeface="Calibri (MS)"/>
                <a:sym typeface="Calibri (MS)"/>
              </a:rPr>
              <a:t>16/21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8DDB0B-E312-62AD-2B31-10EE94371776}"/>
              </a:ext>
            </a:extLst>
          </p:cNvPr>
          <p:cNvSpPr txBox="1"/>
          <p:nvPr/>
        </p:nvSpPr>
        <p:spPr>
          <a:xfrm>
            <a:off x="4114800" y="4914900"/>
            <a:ext cx="9829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           Thank You</a:t>
            </a:r>
            <a:endParaRPr lang="en-IN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790</Words>
  <Application>Microsoft Office PowerPoint</Application>
  <PresentationFormat>Custom</PresentationFormat>
  <Paragraphs>236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Calibri (MS) Bold</vt:lpstr>
      <vt:lpstr>Calibri (MS)</vt:lpstr>
      <vt:lpstr>Montserrat</vt:lpstr>
      <vt:lpstr>Canva Sans</vt:lpstr>
      <vt:lpstr>Calibri</vt:lpstr>
      <vt:lpstr>Cambria Bold</vt:lpstr>
      <vt:lpstr>Canva Sans Bold</vt:lpstr>
      <vt:lpstr>Arial</vt:lpstr>
      <vt:lpstr>Sorts Mill Goudy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Farmverse Precision Agriculture Managment</dc:title>
  <cp:lastModifiedBy>Charitha Sunku</cp:lastModifiedBy>
  <cp:revision>3</cp:revision>
  <dcterms:created xsi:type="dcterms:W3CDTF">2006-08-16T00:00:00Z</dcterms:created>
  <dcterms:modified xsi:type="dcterms:W3CDTF">2026-09-17T15:31:19Z</dcterms:modified>
  <dc:identifier>DAHQHVvGD9E</dc:identifier>
</cp:coreProperties>
</file>